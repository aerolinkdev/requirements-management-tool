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c202c5232e4c13" /><Relationship Type="http://schemas.openxmlformats.org/officeDocument/2006/relationships/extended-properties" Target="/docProps/app.xml" Id="Re4b281ccf3dc4829" /><Relationship Type="http://schemas.openxmlformats.org/officeDocument/2006/relationships/officeDocument" Target="/ppt/presentation.xml" Id="R6faa7c1b44bd4f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f6af85520e4902"/>
  </p:sldMasterIdLst>
  <p:notesMasterIdLst>
    <p:notesMasterId xmlns:r="http://schemas.openxmlformats.org/officeDocument/2006/relationships" r:id="R0f9c628a2f6c43a3"/>
  </p:notesMasterIdLst>
  <p:sldIdLst>
    <p:sldId xmlns:r="http://schemas.openxmlformats.org/officeDocument/2006/relationships" id="256" r:id="Rb6a0ff5f4f0c4ac6"/>
    <p:sldId xmlns:r="http://schemas.openxmlformats.org/officeDocument/2006/relationships" id="257" r:id="R269fb3c97d8d48c2"/>
    <p:sldId xmlns:r="http://schemas.openxmlformats.org/officeDocument/2006/relationships" id="258" r:id="R9af6318c212f42ba"/>
    <p:sldId xmlns:r="http://schemas.openxmlformats.org/officeDocument/2006/relationships" id="259" r:id="R285b592d93c04e63"/>
    <p:sldId xmlns:r="http://schemas.openxmlformats.org/officeDocument/2006/relationships" id="260" r:id="Rbdeba4b48b9047b3"/>
    <p:sldId xmlns:r="http://schemas.openxmlformats.org/officeDocument/2006/relationships" id="261" r:id="R3ac9fe41a5ea4209"/>
    <p:sldId xmlns:r="http://schemas.openxmlformats.org/officeDocument/2006/relationships" id="262" r:id="Rcbb3c9aa950b4e41"/>
    <p:sldId xmlns:r="http://schemas.openxmlformats.org/officeDocument/2006/relationships" id="263" r:id="R1f69c9f1fe0c4df7"/>
    <p:sldId xmlns:r="http://schemas.openxmlformats.org/officeDocument/2006/relationships" id="264" r:id="R40b9f20d37d448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ce59b504144b74" /><Relationship Type="http://schemas.openxmlformats.org/officeDocument/2006/relationships/slideMaster" Target="/ppt/slideMasters/slideMaster1.xml" Id="R88f6af85520e4902" /><Relationship Type="http://schemas.openxmlformats.org/officeDocument/2006/relationships/notesMaster" Target="/ppt/notesMasters/notesMaster1.xml" Id="R0f9c628a2f6c43a3" /><Relationship Type="http://schemas.openxmlformats.org/officeDocument/2006/relationships/presProps" Target="/ppt/presProps.xml" Id="Rb096029d11854861" /><Relationship Type="http://schemas.openxmlformats.org/officeDocument/2006/relationships/tableStyles" Target="/ppt/tableStyles.xml" Id="Rde6dcd3d5ba84f18" /><Relationship Type="http://schemas.openxmlformats.org/officeDocument/2006/relationships/slide" Target="/ppt/slides/slide1.xml" Id="Rb6a0ff5f4f0c4ac6" /><Relationship Type="http://schemas.openxmlformats.org/officeDocument/2006/relationships/slide" Target="/ppt/slides/slide2.xml" Id="R269fb3c97d8d48c2" /><Relationship Type="http://schemas.openxmlformats.org/officeDocument/2006/relationships/slide" Target="/ppt/slides/slide3.xml" Id="R9af6318c212f42ba" /><Relationship Type="http://schemas.openxmlformats.org/officeDocument/2006/relationships/slide" Target="/ppt/slides/slide4.xml" Id="R285b592d93c04e63" /><Relationship Type="http://schemas.openxmlformats.org/officeDocument/2006/relationships/slide" Target="/ppt/slides/slide5.xml" Id="Rbdeba4b48b9047b3" /><Relationship Type="http://schemas.openxmlformats.org/officeDocument/2006/relationships/slide" Target="/ppt/slides/slide6.xml" Id="R3ac9fe41a5ea4209" /><Relationship Type="http://schemas.openxmlformats.org/officeDocument/2006/relationships/slide" Target="/ppt/slides/slide7.xml" Id="Rcbb3c9aa950b4e41" /><Relationship Type="http://schemas.openxmlformats.org/officeDocument/2006/relationships/slide" Target="/ppt/slides/slide8.xml" Id="R1f69c9f1fe0c4df7" /><Relationship Type="http://schemas.openxmlformats.org/officeDocument/2006/relationships/slide" Target="/ppt/slides/slide9.xml" Id="R40b9f20d37d448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640058b1994f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6ffc24a8f24c8c" /><Relationship Type="http://schemas.openxmlformats.org/officeDocument/2006/relationships/notesMaster" Target="/ppt/notesMasters/notesMaster1.xml" Id="R66e777361e5649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b6497602584833" /><Relationship Type="http://schemas.openxmlformats.org/officeDocument/2006/relationships/notesMaster" Target="/ppt/notesMasters/notesMaster1.xml" Id="Rfab62ec5a70f49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d4f337936b490b" /><Relationship Type="http://schemas.openxmlformats.org/officeDocument/2006/relationships/notesMaster" Target="/ppt/notesMasters/notesMaster1.xml" Id="Re0d193efa40842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7227de1ce44c30" /><Relationship Type="http://schemas.openxmlformats.org/officeDocument/2006/relationships/notesMaster" Target="/ppt/notesMasters/notesMaster1.xml" Id="R03996cacfb3c40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bb25521a984119" /><Relationship Type="http://schemas.openxmlformats.org/officeDocument/2006/relationships/notesMaster" Target="/ppt/notesMasters/notesMaster1.xml" Id="Rf9711b2dd81445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c6ae8998044404" /><Relationship Type="http://schemas.openxmlformats.org/officeDocument/2006/relationships/notesMaster" Target="/ppt/notesMasters/notesMaster1.xml" Id="R60eb9e8f4af641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30e5a901774501" /><Relationship Type="http://schemas.openxmlformats.org/officeDocument/2006/relationships/notesMaster" Target="/ppt/notesMasters/notesMaster1.xml" Id="R22817725470348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a3b2c028da4b38" /><Relationship Type="http://schemas.openxmlformats.org/officeDocument/2006/relationships/notesMaster" Target="/ppt/notesMasters/notesMaster1.xml" Id="Ra3e1c8d7c7764a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ef8ad3850241ce" /><Relationship Type="http://schemas.openxmlformats.org/officeDocument/2006/relationships/notesMaster" Target="/ppt/notesMasters/notesMaster1.xml" Id="R3c5d94b0ea8340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4e19cb93a48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58d87ca44045ac" /><Relationship Type="http://schemas.openxmlformats.org/officeDocument/2006/relationships/slideLayout" Target="/ppt/slideLayouts/slideLayout1.xml" Id="Re3e64e8c784d47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e64e8c784d47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1c667bc0f43d1" /><Relationship Type="http://schemas.openxmlformats.org/officeDocument/2006/relationships/image" Target="/ppt/media/image.png" Id="Ref8a6a4c0c024a2b" /><Relationship Type="http://schemas.openxmlformats.org/officeDocument/2006/relationships/notesSlide" Target="/ppt/notesSlides/notesSlide1.xml" Id="R6c1c2085510743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9b8412fc24e50" /><Relationship Type="http://schemas.openxmlformats.org/officeDocument/2006/relationships/notesSlide" Target="/ppt/notesSlides/notesSlide2.xml" Id="R374e1ae78f024b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67cc795a14272" /><Relationship Type="http://schemas.openxmlformats.org/officeDocument/2006/relationships/notesSlide" Target="/ppt/notesSlides/notesSlide3.xml" Id="R7f998b7db9cf49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d2cc281d4418b" /><Relationship Type="http://schemas.openxmlformats.org/officeDocument/2006/relationships/image" Target="/ppt/media/image2.png" Id="R8323a1c9227b4f5c" /><Relationship Type="http://schemas.openxmlformats.org/officeDocument/2006/relationships/notesSlide" Target="/ppt/notesSlides/notesSlide4.xml" Id="R0af75990353d47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807ef08f64af3" /><Relationship Type="http://schemas.openxmlformats.org/officeDocument/2006/relationships/image" Target="/ppt/media/image3.png" Id="R3ffd22dd68704f21" /><Relationship Type="http://schemas.openxmlformats.org/officeDocument/2006/relationships/notesSlide" Target="/ppt/notesSlides/notesSlide5.xml" Id="Rb3c1591e36794b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58a2d29a14340" /><Relationship Type="http://schemas.openxmlformats.org/officeDocument/2006/relationships/image" Target="/ppt/media/image4.png" Id="Rc655007893f3438c" /><Relationship Type="http://schemas.openxmlformats.org/officeDocument/2006/relationships/notesSlide" Target="/ppt/notesSlides/notesSlide6.xml" Id="R7f9c4c6e76544d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fa05ca4224636" /><Relationship Type="http://schemas.openxmlformats.org/officeDocument/2006/relationships/image" Target="/ppt/media/image5.png" Id="R78a367f15ae24baa" /><Relationship Type="http://schemas.openxmlformats.org/officeDocument/2006/relationships/notesSlide" Target="/ppt/notesSlides/notesSlide7.xml" Id="R02cf3591bff946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2b81f65b2423d" /><Relationship Type="http://schemas.openxmlformats.org/officeDocument/2006/relationships/notesSlide" Target="/ppt/notesSlides/notesSlide8.xml" Id="Rf8ecb737c84245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ec94e469548a9" /><Relationship Type="http://schemas.openxmlformats.org/officeDocument/2006/relationships/notesSlide" Target="/ppt/notesSlides/notesSlide9.xml" Id="R779e3708ce9247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a6a4c0c024a2b"/>
          <a:srcRect xmlns:a="http://schemas.openxmlformats.org/drawingml/2006/main" l="16854" t="0" r="168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0125" y="457200"/>
            <a:ext cx="7000875" cy="5943600"/>
          </a:xfrm>
          <a:prstGeom xmlns:a="http://schemas.openxmlformats.org/drawingml/2006/main" prst="roundRect">
            <a:avLst>
              <a:gd name="adj" fmla="val 1923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FC3E5-A3B1-40E0-9D84-7B7EDDCB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"/>
            <a:ext cx="1047750" cy="5943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6B2DC-0345-48B6-A3FF-14827B28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WORKING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9B3F4-9326-4D01-B9C6-E66D5A43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390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AeroLink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9DE72-7CE9-4CF6-95AE-01689417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E9F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D9E9F0"/>
                </a:solidFill>
                <a:latin typeface="Aptos"/>
                <a:ea typeface="Aptos"/>
                <a:cs typeface="Aptos"/>
              </a:rPr>
              <a:t>One controlled story from change request to released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B0CC4-B611-4F59-A9A4-5BF765CB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361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C1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C1CE"/>
                </a:solidFill>
                <a:latin typeface="Aptos"/>
                <a:ea typeface="Aptos"/>
                <a:cs typeface="Aptos"/>
              </a:rPr>
              <a:t>A concept for an on-premises aerospace development-assurance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170CB-D01C-43DA-8B6C-ED87B6DB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2905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46E65-4874-41A2-8BA1-CC88EEC3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55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A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1A2B"/>
                </a:solidFill>
                <a:latin typeface="Aptos"/>
                <a:ea typeface="Aptos"/>
                <a:cs typeface="Aptos"/>
              </a:rPr>
              <a:t>MANAGER CONCEPT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C2618-39B6-4193-BF40-F491B3FA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A4B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FA4B7"/>
                </a:solidFill>
                <a:latin typeface="Aptos"/>
                <a:ea typeface="Aptos"/>
                <a:cs typeface="Aptos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3453547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4366C2-29AD-40C3-8BA3-F1B74C8B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F1AEB-177B-4F72-B2C5-753B3D7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1889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1889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A1BF4-70FD-459F-9C23-79510276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839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Today’s evidence story is fragmented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A8160-A519-486A-9C72-8976593E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The risk is not a lack of data—it is proving that the right data, revision, approval and result belong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09012-72B3-4BCF-89ED-7CB4707A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2F6D3-DD53-4027-8457-79B67BEB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32E4F-F8AB-4638-AD6F-2931F27B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90725"/>
            <a:ext cx="771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Documents and spreadsheets obscure stable identity and revision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8EF89-761C-4552-B5F0-E431ED53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0325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9"/>
          </a:solidFill>
          <a:ln xmlns:a="http://schemas.openxmlformats.org/drawingml/2006/main" w="0">
            <a:solidFill>
              <a:srgbClr val="D8E3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33A97-CF65-405C-B62F-5A159546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FC697-1B74-4DA8-9346-F359AB50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718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B4185-A9BD-4C0E-949A-AF3F509C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62275"/>
            <a:ext cx="771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Rationale, approval and release selection live in separate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4DCCE-3DB4-4A2E-A7E6-FA780B79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71875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9"/>
          </a:solidFill>
          <a:ln xmlns:a="http://schemas.openxmlformats.org/drawingml/2006/main" w="0">
            <a:solidFill>
              <a:srgbClr val="D8E3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C122E-7FFD-43F0-A015-5C760864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65D54-CF82-45FA-844B-16BFCAC1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27A63-DE35-4463-A9BD-9DB30C7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33825"/>
            <a:ext cx="771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Procedures, configurations, results and evidence are hard to reconcile.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6FDF9-6CA6-4A57-9F1F-36047AB1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43425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9"/>
          </a:solidFill>
          <a:ln xmlns:a="http://schemas.openxmlformats.org/drawingml/2006/main" w="0">
            <a:solidFill>
              <a:srgbClr val="D8E3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A29BD-6E72-4051-97D0-F8D8B91F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CCA96-D85A-4223-B6DD-B0BE0007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149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TRACEABILITY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455F1-3934-488C-A6EF-D58DBABA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05375"/>
            <a:ext cx="771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Static matrices show links, but rarely explain impact or suspect status.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DF1EA-3272-4F83-9BF1-0A30014D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14975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9"/>
          </a:solidFill>
          <a:ln xmlns:a="http://schemas.openxmlformats.org/drawingml/2006/main" w="0">
            <a:solidFill>
              <a:srgbClr val="D8E3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C90422-FABB-49F0-BC5F-70CE90B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87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1A2B"/>
          </a:solidFill>
          <a:ln xmlns:a="http://schemas.openxmlformats.org/drawingml/2006/main" w="0">
            <a:solidFill>
              <a:srgbClr val="081A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A853B-F54D-43A4-9F05-757FA7E7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0275"/>
            <a:ext cx="10629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 question: can we reconstruct a released requirement’s complete story—quickly, accurately and years later?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11FBFA-40A0-424E-8D01-FB045147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9"/>
          </a:solidFill>
          <a:ln xmlns:a="http://schemas.openxmlformats.org/drawingml/2006/main" w="0">
            <a:solidFill>
              <a:srgbClr val="D8E3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75D856-1537-4488-926D-D059979D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8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896"/>
                </a:solidFill>
                <a:latin typeface="Aptos"/>
                <a:ea typeface="Aptos"/>
                <a:cs typeface="Aptos"/>
              </a:rPr>
              <a:t>Product definition source: project documentation baseline, 11 July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EB6F4-5A5D-4C13-88DF-808E56DC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627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575"/>
                </a:solidFill>
                <a:latin typeface="Aptos"/>
                <a:ea typeface="Aptos"/>
                <a:cs typeface="Aptos"/>
              </a:rPr>
              <a:t>AEROLINK  •  CONCEPT</a:t>
            </a:r>
          </a:p>
        </p:txBody>
      </p:sp>
    </p:spTree>
    <p:extLst>
      <p:ext uri="{BB962C8B-B14F-4D97-AF65-F5344CB8AC3E}">
        <p14:creationId xmlns:p14="http://schemas.microsoft.com/office/powerpoint/2010/main" val="15932555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B9460E-391B-43F8-8C8E-387ADFAA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THE PROPOSITION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057E1-1D73-4E52-8472-22B94564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1889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1889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8084B-F08A-452E-AC85-CA9673DF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839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A single controlled chain—not another document repository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BD1EF-78DE-4F3D-A463-4FEAC69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Structured artifacts become the source of truth; documents are reproducible outputs from approved baselines.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6714C-BEDE-4B99-B049-D9B23216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765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88F76-E324-45C1-A012-A3784F6B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765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B3BD4-D1A5-4A31-9EAE-FA020F90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765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DFFD2-95AB-4173-A780-832EB18D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765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99A6F-0F60-4108-B39A-02BA2FD5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765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533AC-6194-468F-80DC-1CF8C233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47925"/>
            <a:ext cx="14668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8E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2112A-7D10-4445-B823-5927BAC0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SCR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26375-BB77-42DD-B8D3-BE4DCDD8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Why it changed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9A9EE-823D-4240-ACF7-9C13D1C8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47925"/>
            <a:ext cx="14668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8E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27387-E420-4E70-BFFB-D0C36FDB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670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REQUIREMENT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70156-26AE-4C5D-962F-DDFDE61F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14675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What is approved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734B8-B0DB-4683-82A5-1FE6F463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47925"/>
            <a:ext cx="14668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8E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7147B-9520-4F20-BE89-E72AECFF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B33A4-B00F-410B-8EE3-3FC46412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14675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What is effective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6E269-C823-4562-9E0D-4F78FB03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47925"/>
            <a:ext cx="14668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8E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C81600-08DC-410E-84EB-FBDA2FD4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PROCEDURE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0D0C11-A913-445F-A962-59106B0C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14675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How it is verified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E7F2E3-34BC-4E6A-906E-C10B06FE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47925"/>
            <a:ext cx="14668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8E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788529-87E4-49E3-98C6-A0330527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774C4-5C0B-4FAA-B4EB-3A119698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14675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What was run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68AC1A-DB2F-44E0-95AD-01EBF08B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47925"/>
            <a:ext cx="14668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81A2B"/>
          </a:solidFill>
          <a:ln xmlns:a="http://schemas.openxmlformats.org/drawingml/2006/main" w="9525">
            <a:solidFill>
              <a:srgbClr val="081A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78B575-F39A-42BC-A7FE-C9E51FFC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670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7EDF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7EDF2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B5F3C1-2592-4B5F-832A-9298AAF5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14675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proves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7A78AE-9143-4E42-9DD9-ACA39A7A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Every node has a stable identity, immutable revision history, review state, owner, exact links and an append-only audit trail.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FDDD9C-42C1-4B41-99C8-837D80F0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1970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D6"/>
          </a:solidFill>
          <a:ln xmlns:a="http://schemas.openxmlformats.org/drawingml/2006/main" w="0">
            <a:solidFill>
              <a:srgbClr val="22C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EDDAAB-6E98-4A74-ABBE-7B69821B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86400"/>
            <a:ext cx="800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First prove this chain at system level. Then extend the same control model to HLRs, LLRs and PRs.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C64702-6795-4742-8B59-BE524B2C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9"/>
          </a:solidFill>
          <a:ln xmlns:a="http://schemas.openxmlformats.org/drawingml/2006/main" w="0">
            <a:solidFill>
              <a:srgbClr val="D8E3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F8A308-0DD3-4053-BCC9-135AF4AF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8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896"/>
                </a:solidFill>
                <a:latin typeface="Aptos"/>
                <a:ea typeface="Aptos"/>
                <a:cs typeface="Aptos"/>
              </a:rPr>
              <a:t>Concept scope: system-level vertical slice first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E815D0-6A27-4E09-823E-D060A081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627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575"/>
                </a:solidFill>
                <a:latin typeface="Aptos"/>
                <a:ea typeface="Aptos"/>
                <a:cs typeface="Aptos"/>
              </a:rPr>
              <a:t>AEROLINK  •  CONCEPT</a:t>
            </a:r>
          </a:p>
        </p:txBody>
      </p:sp>
    </p:spTree>
    <p:extLst>
      <p:ext uri="{BB962C8B-B14F-4D97-AF65-F5344CB8AC3E}">
        <p14:creationId xmlns:p14="http://schemas.microsoft.com/office/powerpoint/2010/main" val="391822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5BF89D-B689-4492-8373-A5F4B0EC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ED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7EDF2"/>
                </a:solidFill>
                <a:latin typeface="Aptos"/>
                <a:ea typeface="Aptos"/>
                <a:cs typeface="Aptos"/>
              </a:rPr>
              <a:t>CONCEPT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11809-01AE-42CD-A08B-A1558133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3A5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3A5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7C00F-8263-4588-B455-6E30F4B1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839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manager sees readiness—not document hunting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2A441-79EC-4771-9C25-1926295B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FD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FDB"/>
                </a:solidFill>
                <a:latin typeface="Aptos"/>
                <a:ea typeface="Aptos"/>
                <a:cs typeface="Aptos"/>
              </a:rPr>
              <a:t>One view surfaces release health, review demand, baseline readiness and traceability completeness.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3a1c9227b4f5c"/>
          <a:srcRect xmlns:a="http://schemas.openxmlformats.org/drawingml/2006/main" l="0" t="14280" r="0" b="142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95450"/>
            <a:ext cx="11087100" cy="44577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870D1-FE6B-40AB-BC39-A91CEC88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E"/>
          </a:solidFill>
          <a:ln xmlns:a="http://schemas.openxmlformats.org/drawingml/2006/main" w="0">
            <a:solidFill>
              <a:srgbClr val="2446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E0F51-C58A-4ABE-9E9E-D0610751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A9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9A9BA"/>
                </a:solidFill>
                <a:latin typeface="Aptos"/>
                <a:ea typeface="Aptos"/>
                <a:cs typeface="Aptos"/>
              </a:rPr>
              <a:t>Illustrative interface concept • values shown are fictional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DB382-D232-4CB8-A88C-0DFDFC30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627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EDF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EDF2"/>
                </a:solidFill>
                <a:latin typeface="Aptos"/>
                <a:ea typeface="Aptos"/>
                <a:cs typeface="Aptos"/>
              </a:rPr>
              <a:t>AEROLINK  •  CONCEPT</a:t>
            </a:r>
          </a:p>
        </p:txBody>
      </p:sp>
    </p:spTree>
    <p:extLst>
      <p:ext uri="{BB962C8B-B14F-4D97-AF65-F5344CB8AC3E}">
        <p14:creationId xmlns:p14="http://schemas.microsoft.com/office/powerpoint/2010/main" val="1001792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871B78-5206-4092-A5E3-E8248F8D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CONTROLLED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44799-BBE1-483D-B1E1-C6D9B2C0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1889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1889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C7217-7BF5-4A35-86F7-F064898B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839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The SCR makes change reviewable before it becomes effective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6703A-32E6-4605-AD2C-C26937DB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Reviewers compare revisions, see affected verification and resolve suspect links before approval or baseline selection.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d22dd68704f21"/>
          <a:srcRect xmlns:a="http://schemas.openxmlformats.org/drawingml/2006/main" l="0" t="15501" r="0" b="155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14500"/>
            <a:ext cx="11087100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D1AF5-2C54-497A-B709-B09A6C43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9"/>
          </a:solidFill>
          <a:ln xmlns:a="http://schemas.openxmlformats.org/drawingml/2006/main" w="0">
            <a:solidFill>
              <a:srgbClr val="D8E3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C87B4-AB13-4B0D-996A-C1FE573A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8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896"/>
                </a:solidFill>
                <a:latin typeface="Aptos"/>
                <a:ea typeface="Aptos"/>
                <a:cs typeface="Aptos"/>
              </a:rPr>
              <a:t>Illustrative interface concept • approval and baseline inclusion remain separate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FFAA5-9252-4AA2-9A53-362AF00A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627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575"/>
                </a:solidFill>
                <a:latin typeface="Aptos"/>
                <a:ea typeface="Aptos"/>
                <a:cs typeface="Aptos"/>
              </a:rPr>
              <a:t>AEROLINK  •  CONCEPT</a:t>
            </a:r>
          </a:p>
        </p:txBody>
      </p:sp>
    </p:spTree>
    <p:extLst>
      <p:ext uri="{BB962C8B-B14F-4D97-AF65-F5344CB8AC3E}">
        <p14:creationId xmlns:p14="http://schemas.microsoft.com/office/powerpoint/2010/main" val="12778994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414F5C-7C88-4D3E-8795-057DF2CA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ED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7EDF2"/>
                </a:solidFill>
                <a:latin typeface="Aptos"/>
                <a:ea typeface="Aptos"/>
                <a:cs typeface="Aptos"/>
              </a:rPr>
              <a:t>TRACEABILITY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44C76-5967-49D2-A163-27039AA0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3A5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3A5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36335-4528-48DD-80B8-37146637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839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Traceability becomes an answer, not a static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CE07B-86DA-43C2-BADB-27DB1844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FD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FDB"/>
                </a:solidFill>
                <a:latin typeface="Aptos"/>
                <a:ea typeface="Aptos"/>
                <a:cs typeface="Aptos"/>
              </a:rPr>
              <a:t>Navigate the released path, identify suspect relationships, and inspect exact provenance without losing context.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5007893f3438c"/>
          <a:srcRect xmlns:a="http://schemas.openxmlformats.org/drawingml/2006/main" l="0" t="15501" r="0" b="155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14500"/>
            <a:ext cx="11087100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EC870-FC90-4DE3-91A5-205B2B5F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E"/>
          </a:solidFill>
          <a:ln xmlns:a="http://schemas.openxmlformats.org/drawingml/2006/main" w="0">
            <a:solidFill>
              <a:srgbClr val="2446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9FBEA-61A1-4FE3-9B17-64752306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A9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9A9BA"/>
                </a:solidFill>
                <a:latin typeface="Aptos"/>
                <a:ea typeface="Aptos"/>
                <a:cs typeface="Aptos"/>
              </a:rPr>
              <a:t>Illustrative interface concept • typed and version-aware relationships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D5BAB-B24C-44C9-A9C2-EF150537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627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EDF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EDF2"/>
                </a:solidFill>
                <a:latin typeface="Aptos"/>
                <a:ea typeface="Aptos"/>
                <a:cs typeface="Aptos"/>
              </a:rPr>
              <a:t>AEROLINK  •  CONCEPT</a:t>
            </a:r>
          </a:p>
        </p:txBody>
      </p:sp>
    </p:spTree>
    <p:extLst>
      <p:ext uri="{BB962C8B-B14F-4D97-AF65-F5344CB8AC3E}">
        <p14:creationId xmlns:p14="http://schemas.microsoft.com/office/powerpoint/2010/main" val="1447490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4894DF-3B94-408C-AB9B-9225F76A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34F08-4F00-4829-A348-5E496A78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1889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1889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9840B-7216-43AD-A009-3F8211F0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839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A retest can close the issue without erasing the failure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46271-744E-437E-90C3-09EDDB56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Each external execution retains its exact procedure, configuration, evidence, review and relationship to prior attempts.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367f15ae24baa"/>
          <a:srcRect xmlns:a="http://schemas.openxmlformats.org/drawingml/2006/main" l="0" t="15501" r="0" b="155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14500"/>
            <a:ext cx="11087100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C59A3-588C-4944-B8A0-4C86DB85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9"/>
          </a:solidFill>
          <a:ln xmlns:a="http://schemas.openxmlformats.org/drawingml/2006/main" w="0">
            <a:solidFill>
              <a:srgbClr val="D8E3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FC110-5AAD-47BC-9699-B26989F1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8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896"/>
                </a:solidFill>
                <a:latin typeface="Aptos"/>
                <a:ea typeface="Aptos"/>
                <a:cs typeface="Aptos"/>
              </a:rPr>
              <a:t>Illustrative interface concept • test execution remains outside the platform initially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8F284-B798-45E0-B9C7-A28C842B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627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575"/>
                </a:solidFill>
                <a:latin typeface="Aptos"/>
                <a:ea typeface="Aptos"/>
                <a:cs typeface="Aptos"/>
              </a:rPr>
              <a:t>AEROLINK  •  CONCEPT</a:t>
            </a:r>
          </a:p>
        </p:txBody>
      </p:sp>
    </p:spTree>
    <p:extLst>
      <p:ext uri="{BB962C8B-B14F-4D97-AF65-F5344CB8AC3E}">
        <p14:creationId xmlns:p14="http://schemas.microsoft.com/office/powerpoint/2010/main" val="4202572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16E155-DC8F-4937-BE86-2F989A2B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LOW-RISK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B7700-2B1C-488A-979C-4781BB3E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1889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1889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D6339-4703-4769-8D50-DD1468EA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839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Prove the hardest controls in three deliberate increments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A0B8D-6ABA-4105-890A-4ACAF771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Each increment ends with evidence that the model works before the scope expands.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FCC4B-ADAC-415B-8950-B7D7DBE5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06A82-69CC-45A3-9BB9-3A10304E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D9F39-B454-491B-9D29-F980A34D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933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CONTROLLED REQUIREMENTS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B43FD-C347-44EE-BE46-7AB648AC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2933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Programs, roles, stable IDs, revisions, images, search and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3F1A3-747D-4693-B25B-18C1ECF7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9"/>
          </a:solidFill>
          <a:ln xmlns:a="http://schemas.openxmlformats.org/drawingml/2006/main" w="0">
            <a:solidFill>
              <a:srgbClr val="D8E3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263F7-1332-4033-AF3C-7B4D30BB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Prove history cannot be overwritten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161BF-416F-4054-B0C7-4CAA7A9E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BA884-D838-485A-B48D-46C3C0F0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56F2C-FE6D-4C2C-9BAC-4AB2F919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2933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CHANGE + BASELINES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BB889-827B-4335-95CC-DD380B9C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00450"/>
            <a:ext cx="2933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SCR review, approval, deferral, candidate baselines and controlled SYSRD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7156D-16A6-4DC8-A3EE-C3114357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291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9"/>
          </a:solidFill>
          <a:ln xmlns:a="http://schemas.openxmlformats.org/drawingml/2006/main" w="0">
            <a:solidFill>
              <a:srgbClr val="D8E3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86215-59D9-4202-A5D1-E70525D9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10125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Prove effective content is exact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4E63E-660C-4A37-AC69-AEE04069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0025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81A2B"/>
          </a:solidFill>
          <a:ln xmlns:a="http://schemas.openxmlformats.org/drawingml/2006/main" w="9525">
            <a:solidFill>
              <a:srgbClr val="081A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7FB5E-C988-4DB0-97FE-11890A62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A4DCDB-E1CA-4293-A87B-FCFA880A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2933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VERIFICATION + 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E4B98-CBEB-445B-8AFC-7E7D1A23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2933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D7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2D7E2"/>
                </a:solidFill>
                <a:latin typeface="Aptos"/>
                <a:ea typeface="Aptos"/>
                <a:cs typeface="Aptos"/>
              </a:rPr>
              <a:t>Procedures, external results, evidence, suspect links and release traceability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F20F1-D7A4-4C79-A4D5-4939A5C4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A"/>
          </a:solidFill>
          <a:ln xmlns:a="http://schemas.openxmlformats.org/drawingml/2006/main" w="0">
            <a:solidFill>
              <a:srgbClr val="315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843D76-1CCC-4B67-AA60-B4A0E57A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10125"/>
            <a:ext cx="293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EDF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EDF2"/>
                </a:solidFill>
                <a:latin typeface="Aptos"/>
                <a:ea typeface="Aptos"/>
                <a:cs typeface="Aptos"/>
              </a:rPr>
              <a:t>Prove the full released 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716B5-3932-4AB4-80EA-183869E1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15000"/>
            <a:ext cx="1019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Later: HLRs • LLRs • SWCRs • PR management • selected integrations • optional local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9A58BE-E842-4B01-A43C-5385A24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9"/>
          </a:solidFill>
          <a:ln xmlns:a="http://schemas.openxmlformats.org/drawingml/2006/main" w="0">
            <a:solidFill>
              <a:srgbClr val="D8E3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6D1804-5471-40AA-BCA3-7932B405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8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896"/>
                </a:solidFill>
                <a:latin typeface="Aptos"/>
                <a:ea typeface="Aptos"/>
                <a:cs typeface="Aptos"/>
              </a:rPr>
              <a:t>Roadmap is capability-driven, not calendar-driven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54A1E6-1B85-4510-B8D1-32C486F4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627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575"/>
                </a:solidFill>
                <a:latin typeface="Aptos"/>
                <a:ea typeface="Aptos"/>
                <a:cs typeface="Aptos"/>
              </a:rPr>
              <a:t>AEROLINK  •  CONCEPT</a:t>
            </a:r>
          </a:p>
        </p:txBody>
      </p:sp>
    </p:spTree>
    <p:extLst>
      <p:ext uri="{BB962C8B-B14F-4D97-AF65-F5344CB8AC3E}">
        <p14:creationId xmlns:p14="http://schemas.microsoft.com/office/powerpoint/2010/main" val="2711502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1FF032-A937-4781-AE4C-D7AFFADA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ED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7EDF2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65924-1D60-43A7-8FC1-0C0B6105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3A5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3A5B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38758-C4E8-48AC-8551-5DED3BB7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52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next step is focused discovery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A4924-4C41-455C-BDD3-1158B870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BD0D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BD0DB"/>
                </a:solidFill>
                <a:latin typeface="Aptos"/>
                <a:ea typeface="Aptos"/>
                <a:cs typeface="Aptos"/>
              </a:rPr>
              <a:t>Authorize a focused validation effort that turns this concept into a credible Phase 1 proposal.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BE895-3F44-4C70-AB1B-C537884F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999C4-9E90-424F-AF70-3E293AC6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SPONSOR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75E9F-AC78-4554-86A6-4D374509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BD0D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BD0DB"/>
                </a:solidFill>
                <a:latin typeface="Aptos"/>
                <a:ea typeface="Aptos"/>
                <a:cs typeface="Aptos"/>
              </a:rPr>
              <a:t>Confirm the business problem and intended organizational outcome.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272C8-925F-4C51-905C-8AC6EF20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670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E"/>
          </a:solidFill>
          <a:ln xmlns:a="http://schemas.openxmlformats.org/drawingml/2006/main" w="0">
            <a:solidFill>
              <a:srgbClr val="2446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2C2BE-F049-4312-9C89-B13F4D75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1947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A8D00-7756-4F11-8399-38B36C13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NOMINATE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FBBF6-82C6-42DA-B5B7-74261174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BD0D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BD0DB"/>
                </a:solidFill>
                <a:latin typeface="Aptos"/>
                <a:ea typeface="Aptos"/>
                <a:cs typeface="Aptos"/>
              </a:rPr>
              <a:t>Identify requirements, verification, CM and quality subject-matter reviewers.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AF99B-C397-48AD-94B2-C37A29CE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E"/>
          </a:solidFill>
          <a:ln xmlns:a="http://schemas.openxmlformats.org/drawingml/2006/main" w="0">
            <a:solidFill>
              <a:srgbClr val="2446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76300-5FF0-4900-8673-EF07E7F2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1AE58-E744-4238-A637-A9502F3E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41687-4178-4351-B25D-3D513F58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8150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BD0D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BD0DB"/>
                </a:solidFill>
                <a:latin typeface="Aptos"/>
                <a:ea typeface="Aptos"/>
                <a:cs typeface="Aptos"/>
              </a:rPr>
              <a:t>Select a representative SYSRD, SCR and test evidence set for a paper pilot.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DA7316-5C66-484B-9094-41DE109B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E"/>
          </a:solidFill>
          <a:ln xmlns:a="http://schemas.openxmlformats.org/drawingml/2006/main" w="0">
            <a:solidFill>
              <a:srgbClr val="2446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D9C8F-E37C-4D7F-9635-99040024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3257550" cy="33337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02B40"/>
          </a:solidFill>
          <a:ln xmlns:a="http://schemas.openxmlformats.org/drawingml/2006/main" w="9525">
            <a:solidFill>
              <a:srgbClr val="3153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579FC-DEBA-414D-BDCF-647226F1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C7D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7D6"/>
                </a:solidFill>
                <a:latin typeface="Aptos"/>
                <a:ea typeface="Aptos"/>
                <a:cs typeface="Aptos"/>
              </a:rPr>
              <a:t>THE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CFE2D-025A-4DC7-AB54-706C278E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2628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decision-ready Phase 1 proposal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CA74C-B16C-45DD-9EC2-C9D22AC9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14750"/>
            <a:ext cx="2628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D7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2D7E2"/>
                </a:solidFill>
                <a:latin typeface="Aptos"/>
                <a:ea typeface="Aptos"/>
                <a:cs typeface="Aptos"/>
              </a:rPr>
              <a:t>• validated workflows</a:t>
            </a:r>
          </a:p>
          <a:p xmlns:a="http://schemas.openxmlformats.org/drawingml/2006/main">
            <a:pPr algn="l">
              <a:defRPr sz="1275" b="0">
                <a:solidFill>
                  <a:srgbClr val="C2D7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2D7E2"/>
                </a:solidFill>
                <a:latin typeface="Aptos"/>
                <a:ea typeface="Aptos"/>
                <a:cs typeface="Aptos"/>
              </a:rPr>
              <a:t>• prioritized requirements</a:t>
            </a:r>
          </a:p>
          <a:p xmlns:a="http://schemas.openxmlformats.org/drawingml/2006/main">
            <a:pPr algn="l">
              <a:defRPr sz="1275" b="0">
                <a:solidFill>
                  <a:srgbClr val="C2D7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2D7E2"/>
                </a:solidFill>
                <a:latin typeface="Aptos"/>
                <a:ea typeface="Aptos"/>
                <a:cs typeface="Aptos"/>
              </a:rPr>
              <a:t>• technical options and risks</a:t>
            </a:r>
          </a:p>
          <a:p xmlns:a="http://schemas.openxmlformats.org/drawingml/2006/main">
            <a:pPr algn="l">
              <a:defRPr sz="1275" b="0">
                <a:solidFill>
                  <a:srgbClr val="C2D7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2D7E2"/>
                </a:solidFill>
                <a:latin typeface="Aptos"/>
                <a:ea typeface="Aptos"/>
                <a:cs typeface="Aptos"/>
              </a:rPr>
              <a:t>• pilot scope and success gates</a:t>
            </a:r>
          </a:p>
          <a:p xmlns:a="http://schemas.openxmlformats.org/drawingml/2006/main">
            <a:pPr algn="l">
              <a:defRPr sz="1275" b="0">
                <a:solidFill>
                  <a:srgbClr val="C2D7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2D7E2"/>
                </a:solidFill>
                <a:latin typeface="Aptos"/>
                <a:ea typeface="Aptos"/>
                <a:cs typeface="Aptos"/>
              </a:rPr>
              <a:t>• evidence-based delivery estimate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255EF-A040-49F1-B5FA-A85FB11C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EDF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A7EDF2"/>
                </a:solidFill>
                <a:latin typeface="Aptos"/>
                <a:ea typeface="Aptos"/>
                <a:cs typeface="Aptos"/>
              </a:rPr>
              <a:t>A controlled story is the product.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3D45E3-4379-4257-AE9A-95085A88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5E"/>
          </a:solidFill>
          <a:ln xmlns:a="http://schemas.openxmlformats.org/drawingml/2006/main" w="0">
            <a:solidFill>
              <a:srgbClr val="2446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B92427-13D0-4CF6-B846-DE3747AB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627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A9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9A9BA"/>
                </a:solidFill>
                <a:latin typeface="Aptos"/>
                <a:ea typeface="Aptos"/>
                <a:cs typeface="Aptos"/>
              </a:rPr>
              <a:t>Sources: internal product-definition baseline (11 Jul 2026); W3C WCAG 2.2 design reference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DFD01-DC97-4082-ACDD-060470FB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627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7EDF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EDF2"/>
                </a:solidFill>
                <a:latin typeface="Aptos"/>
                <a:ea typeface="Aptos"/>
                <a:cs typeface="Aptos"/>
              </a:rPr>
              <a:t>AEROLINK  •  CONCEPT</a:t>
            </a:r>
          </a:p>
        </p:txBody>
      </p:sp>
    </p:spTree>
    <p:extLst>
      <p:ext uri="{BB962C8B-B14F-4D97-AF65-F5344CB8AC3E}">
        <p14:creationId xmlns:p14="http://schemas.microsoft.com/office/powerpoint/2010/main" val="1957405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2026-07-12T02:06:54.2640000Z</dcterms:created>
  <dcterms:modified xsi:type="dcterms:W3CDTF">2026-07-12T02:06:54.2640000Z</dcterms:modified>
</coreProperties>
</file>